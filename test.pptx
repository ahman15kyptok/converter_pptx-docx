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61" r:id="rId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20" d="100"/>
          <a:sy n="120" d="100"/>
        </p:scale>
        <p:origin x="134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5D5E352-6EBF-4AB9-A7B9-5FE83AB525CE}" type="doc">
      <dgm:prSet loTypeId="urn:microsoft.com/office/officeart/2005/8/layout/target3" loCatId="list" qsTypeId="urn:microsoft.com/office/officeart/2005/8/quickstyle/simple1" qsCatId="simple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378777CD-FA24-4C91-A181-69AD46D7AF2D}">
      <dgm:prSet phldrT="[Text]"/>
      <dgm:spPr/>
      <dgm:t>
        <a:bodyPr/>
        <a:lstStyle/>
        <a:p>
          <a:r>
            <a:rPr lang="ru-RU"/>
            <a:t>Эвристический синтез</a:t>
          </a:r>
          <a:endParaRPr lang="en-US"/>
        </a:p>
      </dgm:t>
    </dgm:pt>
    <dgm:pt modelId="{A8A1EE7C-2695-40D2-839A-3BD8F88260A9}" type="parTrans" cxnId="{5D2BAF20-8960-4F73-885E-07A5C53660BD}">
      <dgm:prSet/>
      <dgm:spPr/>
      <dgm:t>
        <a:bodyPr/>
        <a:lstStyle/>
        <a:p>
          <a:endParaRPr lang="en-US"/>
        </a:p>
      </dgm:t>
    </dgm:pt>
    <dgm:pt modelId="{E4260AD7-6781-4928-BAC1-18AB1D38268A}" type="sibTrans" cxnId="{5D2BAF20-8960-4F73-885E-07A5C53660BD}">
      <dgm:prSet/>
      <dgm:spPr/>
      <dgm:t>
        <a:bodyPr/>
        <a:lstStyle/>
        <a:p>
          <a:endParaRPr lang="en-US"/>
        </a:p>
      </dgm:t>
    </dgm:pt>
    <dgm:pt modelId="{D02EF9BF-9CF9-46C7-8C87-B5771C281F33}">
      <dgm:prSet phldrT="[Text]"/>
      <dgm:spPr/>
      <dgm:t>
        <a:bodyPr/>
        <a:lstStyle/>
        <a:p>
          <a:r>
            <a:rPr lang="ru-RU"/>
            <a:t>способ решения какой-либо поставленной задачи, включающий совокупность приемов мыслительной деятельности, а также операций по сбору, анализу, обработке и хранению информации.</a:t>
          </a:r>
          <a:endParaRPr lang="en-US"/>
        </a:p>
      </dgm:t>
    </dgm:pt>
    <dgm:pt modelId="{7BD91856-8692-4732-AEDB-AF0A6A7971BD}" type="parTrans" cxnId="{FEA14339-0B17-449E-8C32-7C33A1DB59CA}">
      <dgm:prSet/>
      <dgm:spPr/>
      <dgm:t>
        <a:bodyPr/>
        <a:lstStyle/>
        <a:p>
          <a:endParaRPr lang="en-US"/>
        </a:p>
      </dgm:t>
    </dgm:pt>
    <dgm:pt modelId="{5446F29F-27E4-498B-8FD4-573F8331E35E}" type="sibTrans" cxnId="{FEA14339-0B17-449E-8C32-7C33A1DB59CA}">
      <dgm:prSet/>
      <dgm:spPr/>
      <dgm:t>
        <a:bodyPr/>
        <a:lstStyle/>
        <a:p>
          <a:endParaRPr lang="en-US"/>
        </a:p>
      </dgm:t>
    </dgm:pt>
    <dgm:pt modelId="{69EC39DB-BF71-474D-B4C9-2225AC5E1DF2}">
      <dgm:prSet phldrT="[Text]"/>
      <dgm:spPr/>
      <dgm:t>
        <a:bodyPr/>
        <a:lstStyle/>
        <a:p>
          <a:r>
            <a:rPr lang="ru-RU" dirty="0"/>
            <a:t>методы ненаправленного (полуупорядоченного) синтеза, </a:t>
          </a:r>
          <a:endParaRPr lang="en-US" dirty="0"/>
        </a:p>
      </dgm:t>
    </dgm:pt>
    <dgm:pt modelId="{4A55FD87-0653-4C0A-806F-02D3658BB46E}" type="parTrans" cxnId="{193A5792-4B2E-48E2-9122-B706F0C4838D}">
      <dgm:prSet/>
      <dgm:spPr/>
      <dgm:t>
        <a:bodyPr/>
        <a:lstStyle/>
        <a:p>
          <a:endParaRPr lang="en-US"/>
        </a:p>
      </dgm:t>
    </dgm:pt>
    <dgm:pt modelId="{8A5E635E-EB35-4C0F-9531-8239FABA44E4}" type="sibTrans" cxnId="{193A5792-4B2E-48E2-9122-B706F0C4838D}">
      <dgm:prSet/>
      <dgm:spPr/>
      <dgm:t>
        <a:bodyPr/>
        <a:lstStyle/>
        <a:p>
          <a:endParaRPr lang="en-US"/>
        </a:p>
      </dgm:t>
    </dgm:pt>
    <dgm:pt modelId="{98BAECA1-AA22-4F61-AFB0-B750C0D9A690}">
      <dgm:prSet phldrT="[Text]"/>
      <dgm:spPr/>
      <dgm:t>
        <a:bodyPr/>
        <a:lstStyle/>
        <a:p>
          <a:r>
            <a:rPr lang="ru-RU" dirty="0"/>
            <a:t>опирается только на простейшие приемы ассоциативного мышления</a:t>
          </a:r>
          <a:endParaRPr lang="en-US" dirty="0"/>
        </a:p>
      </dgm:t>
    </dgm:pt>
    <dgm:pt modelId="{62E64D0F-28FA-4D77-9ADE-11649E7B8B21}" type="parTrans" cxnId="{9A2C2B3B-D48B-48C8-9957-3766F45BC134}">
      <dgm:prSet/>
      <dgm:spPr/>
      <dgm:t>
        <a:bodyPr/>
        <a:lstStyle/>
        <a:p>
          <a:endParaRPr lang="en-US"/>
        </a:p>
      </dgm:t>
    </dgm:pt>
    <dgm:pt modelId="{A395B408-B5CC-44BC-9668-0D9203DDA190}" type="sibTrans" cxnId="{9A2C2B3B-D48B-48C8-9957-3766F45BC134}">
      <dgm:prSet/>
      <dgm:spPr/>
      <dgm:t>
        <a:bodyPr/>
        <a:lstStyle/>
        <a:p>
          <a:endParaRPr lang="en-US"/>
        </a:p>
      </dgm:t>
    </dgm:pt>
    <dgm:pt modelId="{CB5FD4A6-91A3-44F1-A071-DEABA961544E}">
      <dgm:prSet phldrT="[Text]"/>
      <dgm:spPr/>
      <dgm:t>
        <a:bodyPr/>
        <a:lstStyle/>
        <a:p>
          <a:r>
            <a:rPr lang="ru-RU" dirty="0"/>
            <a:t>методы направленного (упорядоченного) синтеза,</a:t>
          </a:r>
          <a:endParaRPr lang="en-US" dirty="0"/>
        </a:p>
      </dgm:t>
    </dgm:pt>
    <dgm:pt modelId="{84DF5357-A822-4687-B9D9-D41305AD6CA7}" type="parTrans" cxnId="{1E9E030D-7FBC-49D7-835A-F293F7E8B7EA}">
      <dgm:prSet/>
      <dgm:spPr/>
      <dgm:t>
        <a:bodyPr/>
        <a:lstStyle/>
        <a:p>
          <a:endParaRPr lang="en-US"/>
        </a:p>
      </dgm:t>
    </dgm:pt>
    <dgm:pt modelId="{68BED609-63DC-4911-A57B-7A717AF37EFB}" type="sibTrans" cxnId="{1E9E030D-7FBC-49D7-835A-F293F7E8B7EA}">
      <dgm:prSet/>
      <dgm:spPr/>
      <dgm:t>
        <a:bodyPr/>
        <a:lstStyle/>
        <a:p>
          <a:endParaRPr lang="en-US"/>
        </a:p>
      </dgm:t>
    </dgm:pt>
    <dgm:pt modelId="{3C860FA4-309E-4C9A-B4C0-E50FF1A1A4F2}">
      <dgm:prSet phldrT="[Text]"/>
      <dgm:spPr/>
      <dgm:t>
        <a:bodyPr/>
        <a:lstStyle/>
        <a:p>
          <a:r>
            <a:rPr lang="ru-RU" dirty="0"/>
            <a:t>для них характерны комплексный подход, системный анализ проблемы и алгоритмизация творческого процесса.</a:t>
          </a:r>
          <a:endParaRPr lang="en-US" dirty="0"/>
        </a:p>
      </dgm:t>
    </dgm:pt>
    <dgm:pt modelId="{8FAF9DC4-4241-451F-BD4F-97EBE741748A}" type="parTrans" cxnId="{D25F3B08-E24E-4153-9E16-2AF5B9D803D0}">
      <dgm:prSet/>
      <dgm:spPr/>
      <dgm:t>
        <a:bodyPr/>
        <a:lstStyle/>
        <a:p>
          <a:endParaRPr lang="en-US"/>
        </a:p>
      </dgm:t>
    </dgm:pt>
    <dgm:pt modelId="{0B2A1788-7E90-48CF-8778-F7BC94604D49}" type="sibTrans" cxnId="{D25F3B08-E24E-4153-9E16-2AF5B9D803D0}">
      <dgm:prSet/>
      <dgm:spPr/>
      <dgm:t>
        <a:bodyPr/>
        <a:lstStyle/>
        <a:p>
          <a:endParaRPr lang="en-US"/>
        </a:p>
      </dgm:t>
    </dgm:pt>
    <dgm:pt modelId="{F1C36C0C-D0CA-46D6-B5E9-F6F469E33337}" type="pres">
      <dgm:prSet presAssocID="{B5D5E352-6EBF-4AB9-A7B9-5FE83AB525CE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FF67A253-4C11-4AEC-87B7-9EF8A6BBB55A}" type="pres">
      <dgm:prSet presAssocID="{378777CD-FA24-4C91-A181-69AD46D7AF2D}" presName="circle1" presStyleLbl="node1" presStyleIdx="0" presStyleCnt="3"/>
      <dgm:spPr/>
    </dgm:pt>
    <dgm:pt modelId="{1B9493D7-0842-4ED8-8062-2152A82FE04C}" type="pres">
      <dgm:prSet presAssocID="{378777CD-FA24-4C91-A181-69AD46D7AF2D}" presName="space" presStyleCnt="0"/>
      <dgm:spPr/>
    </dgm:pt>
    <dgm:pt modelId="{4B195990-28AA-4577-B88C-644BD258A034}" type="pres">
      <dgm:prSet presAssocID="{378777CD-FA24-4C91-A181-69AD46D7AF2D}" presName="rect1" presStyleLbl="alignAcc1" presStyleIdx="0" presStyleCnt="3"/>
      <dgm:spPr/>
    </dgm:pt>
    <dgm:pt modelId="{E0FAFB4B-2DBC-41CD-88DB-AFB634328FFF}" type="pres">
      <dgm:prSet presAssocID="{69EC39DB-BF71-474D-B4C9-2225AC5E1DF2}" presName="vertSpace2" presStyleLbl="node1" presStyleIdx="0" presStyleCnt="3"/>
      <dgm:spPr/>
    </dgm:pt>
    <dgm:pt modelId="{EEA9DD40-1825-4DF7-9B61-F29A2286C268}" type="pres">
      <dgm:prSet presAssocID="{69EC39DB-BF71-474D-B4C9-2225AC5E1DF2}" presName="circle2" presStyleLbl="node1" presStyleIdx="1" presStyleCnt="3"/>
      <dgm:spPr/>
    </dgm:pt>
    <dgm:pt modelId="{D981A32C-BE1C-4774-9586-EE7F24FE39B6}" type="pres">
      <dgm:prSet presAssocID="{69EC39DB-BF71-474D-B4C9-2225AC5E1DF2}" presName="rect2" presStyleLbl="alignAcc1" presStyleIdx="1" presStyleCnt="3"/>
      <dgm:spPr/>
    </dgm:pt>
    <dgm:pt modelId="{77B63BEE-ECD2-4E78-A23A-E22B1FD69E05}" type="pres">
      <dgm:prSet presAssocID="{CB5FD4A6-91A3-44F1-A071-DEABA961544E}" presName="vertSpace3" presStyleLbl="node1" presStyleIdx="1" presStyleCnt="3"/>
      <dgm:spPr/>
    </dgm:pt>
    <dgm:pt modelId="{0E2C5C0F-84F9-4762-9018-32DDB99831C7}" type="pres">
      <dgm:prSet presAssocID="{CB5FD4A6-91A3-44F1-A071-DEABA961544E}" presName="circle3" presStyleLbl="node1" presStyleIdx="2" presStyleCnt="3"/>
      <dgm:spPr/>
    </dgm:pt>
    <dgm:pt modelId="{576F0507-455B-4338-A620-1510AD9217AF}" type="pres">
      <dgm:prSet presAssocID="{CB5FD4A6-91A3-44F1-A071-DEABA961544E}" presName="rect3" presStyleLbl="alignAcc1" presStyleIdx="2" presStyleCnt="3"/>
      <dgm:spPr/>
    </dgm:pt>
    <dgm:pt modelId="{D930C4B5-121C-40AF-9575-2904FA724891}" type="pres">
      <dgm:prSet presAssocID="{378777CD-FA24-4C91-A181-69AD46D7AF2D}" presName="rect1ParTx" presStyleLbl="alignAcc1" presStyleIdx="2" presStyleCnt="3">
        <dgm:presLayoutVars>
          <dgm:chMax val="1"/>
          <dgm:bulletEnabled val="1"/>
        </dgm:presLayoutVars>
      </dgm:prSet>
      <dgm:spPr/>
    </dgm:pt>
    <dgm:pt modelId="{E1FF304B-E304-42BD-B89C-51126943A301}" type="pres">
      <dgm:prSet presAssocID="{378777CD-FA24-4C91-A181-69AD46D7AF2D}" presName="rect1ChTx" presStyleLbl="alignAcc1" presStyleIdx="2" presStyleCnt="3">
        <dgm:presLayoutVars>
          <dgm:bulletEnabled val="1"/>
        </dgm:presLayoutVars>
      </dgm:prSet>
      <dgm:spPr/>
    </dgm:pt>
    <dgm:pt modelId="{9EE136E5-EA86-4B0B-8C3B-D53DAF141E9E}" type="pres">
      <dgm:prSet presAssocID="{69EC39DB-BF71-474D-B4C9-2225AC5E1DF2}" presName="rect2ParTx" presStyleLbl="alignAcc1" presStyleIdx="2" presStyleCnt="3">
        <dgm:presLayoutVars>
          <dgm:chMax val="1"/>
          <dgm:bulletEnabled val="1"/>
        </dgm:presLayoutVars>
      </dgm:prSet>
      <dgm:spPr/>
    </dgm:pt>
    <dgm:pt modelId="{EA70759F-A540-4F9C-89CC-883A3C8D79CB}" type="pres">
      <dgm:prSet presAssocID="{69EC39DB-BF71-474D-B4C9-2225AC5E1DF2}" presName="rect2ChTx" presStyleLbl="alignAcc1" presStyleIdx="2" presStyleCnt="3">
        <dgm:presLayoutVars>
          <dgm:bulletEnabled val="1"/>
        </dgm:presLayoutVars>
      </dgm:prSet>
      <dgm:spPr/>
    </dgm:pt>
    <dgm:pt modelId="{11B5802F-C4C0-4E25-B70D-055F785115D2}" type="pres">
      <dgm:prSet presAssocID="{CB5FD4A6-91A3-44F1-A071-DEABA961544E}" presName="rect3ParTx" presStyleLbl="alignAcc1" presStyleIdx="2" presStyleCnt="3">
        <dgm:presLayoutVars>
          <dgm:chMax val="1"/>
          <dgm:bulletEnabled val="1"/>
        </dgm:presLayoutVars>
      </dgm:prSet>
      <dgm:spPr/>
    </dgm:pt>
    <dgm:pt modelId="{84BB8280-3CAB-40BC-A131-0D66E492E6C5}" type="pres">
      <dgm:prSet presAssocID="{CB5FD4A6-91A3-44F1-A071-DEABA961544E}" presName="rect3ChTx" presStyleLbl="alignAcc1" presStyleIdx="2" presStyleCnt="3">
        <dgm:presLayoutVars>
          <dgm:bulletEnabled val="1"/>
        </dgm:presLayoutVars>
      </dgm:prSet>
      <dgm:spPr/>
    </dgm:pt>
  </dgm:ptLst>
  <dgm:cxnLst>
    <dgm:cxn modelId="{D25F3B08-E24E-4153-9E16-2AF5B9D803D0}" srcId="{CB5FD4A6-91A3-44F1-A071-DEABA961544E}" destId="{3C860FA4-309E-4C9A-B4C0-E50FF1A1A4F2}" srcOrd="0" destOrd="0" parTransId="{8FAF9DC4-4241-451F-BD4F-97EBE741748A}" sibTransId="{0B2A1788-7E90-48CF-8778-F7BC94604D49}"/>
    <dgm:cxn modelId="{1E9E030D-7FBC-49D7-835A-F293F7E8B7EA}" srcId="{B5D5E352-6EBF-4AB9-A7B9-5FE83AB525CE}" destId="{CB5FD4A6-91A3-44F1-A071-DEABA961544E}" srcOrd="2" destOrd="0" parTransId="{84DF5357-A822-4687-B9D9-D41305AD6CA7}" sibTransId="{68BED609-63DC-4911-A57B-7A717AF37EFB}"/>
    <dgm:cxn modelId="{EECC4C0F-C155-4413-BB83-5CB39116E4F5}" type="presOf" srcId="{D02EF9BF-9CF9-46C7-8C87-B5771C281F33}" destId="{E1FF304B-E304-42BD-B89C-51126943A301}" srcOrd="0" destOrd="0" presId="urn:microsoft.com/office/officeart/2005/8/layout/target3"/>
    <dgm:cxn modelId="{5D2BAF20-8960-4F73-885E-07A5C53660BD}" srcId="{B5D5E352-6EBF-4AB9-A7B9-5FE83AB525CE}" destId="{378777CD-FA24-4C91-A181-69AD46D7AF2D}" srcOrd="0" destOrd="0" parTransId="{A8A1EE7C-2695-40D2-839A-3BD8F88260A9}" sibTransId="{E4260AD7-6781-4928-BAC1-18AB1D38268A}"/>
    <dgm:cxn modelId="{68369A2C-C7BC-47F0-B5BF-9C4DF74A3CDD}" type="presOf" srcId="{CB5FD4A6-91A3-44F1-A071-DEABA961544E}" destId="{576F0507-455B-4338-A620-1510AD9217AF}" srcOrd="0" destOrd="0" presId="urn:microsoft.com/office/officeart/2005/8/layout/target3"/>
    <dgm:cxn modelId="{4470A730-DF87-4847-B524-1EE14AE307D4}" type="presOf" srcId="{B5D5E352-6EBF-4AB9-A7B9-5FE83AB525CE}" destId="{F1C36C0C-D0CA-46D6-B5E9-F6F469E33337}" srcOrd="0" destOrd="0" presId="urn:microsoft.com/office/officeart/2005/8/layout/target3"/>
    <dgm:cxn modelId="{FEA14339-0B17-449E-8C32-7C33A1DB59CA}" srcId="{378777CD-FA24-4C91-A181-69AD46D7AF2D}" destId="{D02EF9BF-9CF9-46C7-8C87-B5771C281F33}" srcOrd="0" destOrd="0" parTransId="{7BD91856-8692-4732-AEDB-AF0A6A7971BD}" sibTransId="{5446F29F-27E4-498B-8FD4-573F8331E35E}"/>
    <dgm:cxn modelId="{9A2C2B3B-D48B-48C8-9957-3766F45BC134}" srcId="{69EC39DB-BF71-474D-B4C9-2225AC5E1DF2}" destId="{98BAECA1-AA22-4F61-AFB0-B750C0D9A690}" srcOrd="0" destOrd="0" parTransId="{62E64D0F-28FA-4D77-9ADE-11649E7B8B21}" sibTransId="{A395B408-B5CC-44BC-9668-0D9203DDA190}"/>
    <dgm:cxn modelId="{7D000D3F-C3C2-4603-92C4-F3F79514B931}" type="presOf" srcId="{378777CD-FA24-4C91-A181-69AD46D7AF2D}" destId="{D930C4B5-121C-40AF-9575-2904FA724891}" srcOrd="1" destOrd="0" presId="urn:microsoft.com/office/officeart/2005/8/layout/target3"/>
    <dgm:cxn modelId="{85C9326B-B725-4A6F-BA51-31E75BA3F32E}" type="presOf" srcId="{98BAECA1-AA22-4F61-AFB0-B750C0D9A690}" destId="{EA70759F-A540-4F9C-89CC-883A3C8D79CB}" srcOrd="0" destOrd="0" presId="urn:microsoft.com/office/officeart/2005/8/layout/target3"/>
    <dgm:cxn modelId="{76C15655-C50B-4A93-9B59-8C02AF5E1B63}" type="presOf" srcId="{69EC39DB-BF71-474D-B4C9-2225AC5E1DF2}" destId="{9EE136E5-EA86-4B0B-8C3B-D53DAF141E9E}" srcOrd="1" destOrd="0" presId="urn:microsoft.com/office/officeart/2005/8/layout/target3"/>
    <dgm:cxn modelId="{0574557F-98AC-4810-9EE0-860E52270B43}" type="presOf" srcId="{CB5FD4A6-91A3-44F1-A071-DEABA961544E}" destId="{11B5802F-C4C0-4E25-B70D-055F785115D2}" srcOrd="1" destOrd="0" presId="urn:microsoft.com/office/officeart/2005/8/layout/target3"/>
    <dgm:cxn modelId="{56E62985-71BE-4201-A192-016CBE5CD8DF}" type="presOf" srcId="{3C860FA4-309E-4C9A-B4C0-E50FF1A1A4F2}" destId="{84BB8280-3CAB-40BC-A131-0D66E492E6C5}" srcOrd="0" destOrd="0" presId="urn:microsoft.com/office/officeart/2005/8/layout/target3"/>
    <dgm:cxn modelId="{193A5792-4B2E-48E2-9122-B706F0C4838D}" srcId="{B5D5E352-6EBF-4AB9-A7B9-5FE83AB525CE}" destId="{69EC39DB-BF71-474D-B4C9-2225AC5E1DF2}" srcOrd="1" destOrd="0" parTransId="{4A55FD87-0653-4C0A-806F-02D3658BB46E}" sibTransId="{8A5E635E-EB35-4C0F-9531-8239FABA44E4}"/>
    <dgm:cxn modelId="{62BE5E99-34F3-4B55-BD19-0D0CED3C3493}" type="presOf" srcId="{69EC39DB-BF71-474D-B4C9-2225AC5E1DF2}" destId="{D981A32C-BE1C-4774-9586-EE7F24FE39B6}" srcOrd="0" destOrd="0" presId="urn:microsoft.com/office/officeart/2005/8/layout/target3"/>
    <dgm:cxn modelId="{69F9C5FC-6C91-48AE-A425-DCC9C70E7B4B}" type="presOf" srcId="{378777CD-FA24-4C91-A181-69AD46D7AF2D}" destId="{4B195990-28AA-4577-B88C-644BD258A034}" srcOrd="0" destOrd="0" presId="urn:microsoft.com/office/officeart/2005/8/layout/target3"/>
    <dgm:cxn modelId="{771250E7-6701-4DC7-BDB1-7147D55146AE}" type="presParOf" srcId="{F1C36C0C-D0CA-46D6-B5E9-F6F469E33337}" destId="{FF67A253-4C11-4AEC-87B7-9EF8A6BBB55A}" srcOrd="0" destOrd="0" presId="urn:microsoft.com/office/officeart/2005/8/layout/target3"/>
    <dgm:cxn modelId="{501F4E43-9D92-459B-9F52-241C2528FF08}" type="presParOf" srcId="{F1C36C0C-D0CA-46D6-B5E9-F6F469E33337}" destId="{1B9493D7-0842-4ED8-8062-2152A82FE04C}" srcOrd="1" destOrd="0" presId="urn:microsoft.com/office/officeart/2005/8/layout/target3"/>
    <dgm:cxn modelId="{EAC4D399-CF1B-4FB3-8EEF-99562D3D88A7}" type="presParOf" srcId="{F1C36C0C-D0CA-46D6-B5E9-F6F469E33337}" destId="{4B195990-28AA-4577-B88C-644BD258A034}" srcOrd="2" destOrd="0" presId="urn:microsoft.com/office/officeart/2005/8/layout/target3"/>
    <dgm:cxn modelId="{DAEC7B0B-6BE4-4B6E-AA02-3494273AF7E7}" type="presParOf" srcId="{F1C36C0C-D0CA-46D6-B5E9-F6F469E33337}" destId="{E0FAFB4B-2DBC-41CD-88DB-AFB634328FFF}" srcOrd="3" destOrd="0" presId="urn:microsoft.com/office/officeart/2005/8/layout/target3"/>
    <dgm:cxn modelId="{47823239-4891-4FAF-9BD0-0EDCF039E2EC}" type="presParOf" srcId="{F1C36C0C-D0CA-46D6-B5E9-F6F469E33337}" destId="{EEA9DD40-1825-4DF7-9B61-F29A2286C268}" srcOrd="4" destOrd="0" presId="urn:microsoft.com/office/officeart/2005/8/layout/target3"/>
    <dgm:cxn modelId="{5E8BEF9D-74A9-4542-82AA-7CD2EBCDC0B0}" type="presParOf" srcId="{F1C36C0C-D0CA-46D6-B5E9-F6F469E33337}" destId="{D981A32C-BE1C-4774-9586-EE7F24FE39B6}" srcOrd="5" destOrd="0" presId="urn:microsoft.com/office/officeart/2005/8/layout/target3"/>
    <dgm:cxn modelId="{A3B2DFF9-DEBC-460B-801E-8917C2751FE6}" type="presParOf" srcId="{F1C36C0C-D0CA-46D6-B5E9-F6F469E33337}" destId="{77B63BEE-ECD2-4E78-A23A-E22B1FD69E05}" srcOrd="6" destOrd="0" presId="urn:microsoft.com/office/officeart/2005/8/layout/target3"/>
    <dgm:cxn modelId="{C02AF486-6A15-41E6-8B0A-DA4852A67519}" type="presParOf" srcId="{F1C36C0C-D0CA-46D6-B5E9-F6F469E33337}" destId="{0E2C5C0F-84F9-4762-9018-32DDB99831C7}" srcOrd="7" destOrd="0" presId="urn:microsoft.com/office/officeart/2005/8/layout/target3"/>
    <dgm:cxn modelId="{520DD6EA-98C0-4ADD-BB5B-150E7787E595}" type="presParOf" srcId="{F1C36C0C-D0CA-46D6-B5E9-F6F469E33337}" destId="{576F0507-455B-4338-A620-1510AD9217AF}" srcOrd="8" destOrd="0" presId="urn:microsoft.com/office/officeart/2005/8/layout/target3"/>
    <dgm:cxn modelId="{16339B74-C4C9-4D0A-8AC2-7D3432F331FE}" type="presParOf" srcId="{F1C36C0C-D0CA-46D6-B5E9-F6F469E33337}" destId="{D930C4B5-121C-40AF-9575-2904FA724891}" srcOrd="9" destOrd="0" presId="urn:microsoft.com/office/officeart/2005/8/layout/target3"/>
    <dgm:cxn modelId="{FFFA6A51-F61F-437A-99E3-8FD6B5CDB7EE}" type="presParOf" srcId="{F1C36C0C-D0CA-46D6-B5E9-F6F469E33337}" destId="{E1FF304B-E304-42BD-B89C-51126943A301}" srcOrd="10" destOrd="0" presId="urn:microsoft.com/office/officeart/2005/8/layout/target3"/>
    <dgm:cxn modelId="{C1578BB2-2C82-4B7E-8228-4AD3D53672E1}" type="presParOf" srcId="{F1C36C0C-D0CA-46D6-B5E9-F6F469E33337}" destId="{9EE136E5-EA86-4B0B-8C3B-D53DAF141E9E}" srcOrd="11" destOrd="0" presId="urn:microsoft.com/office/officeart/2005/8/layout/target3"/>
    <dgm:cxn modelId="{0510E77A-D39D-4525-B2F0-340D7CF62DE0}" type="presParOf" srcId="{F1C36C0C-D0CA-46D6-B5E9-F6F469E33337}" destId="{EA70759F-A540-4F9C-89CC-883A3C8D79CB}" srcOrd="12" destOrd="0" presId="urn:microsoft.com/office/officeart/2005/8/layout/target3"/>
    <dgm:cxn modelId="{50C4BE22-DD62-4247-8CEB-114E698CFA55}" type="presParOf" srcId="{F1C36C0C-D0CA-46D6-B5E9-F6F469E33337}" destId="{11B5802F-C4C0-4E25-B70D-055F785115D2}" srcOrd="13" destOrd="0" presId="urn:microsoft.com/office/officeart/2005/8/layout/target3"/>
    <dgm:cxn modelId="{7A24BDC3-2D03-44EC-8A85-0417AE5B3BD0}" type="presParOf" srcId="{F1C36C0C-D0CA-46D6-B5E9-F6F469E33337}" destId="{84BB8280-3CAB-40BC-A131-0D66E492E6C5}" srcOrd="14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67A253-4C11-4AEC-87B7-9EF8A6BBB55A}">
      <dsp:nvSpPr>
        <dsp:cNvPr id="0" name=""/>
        <dsp:cNvSpPr/>
      </dsp:nvSpPr>
      <dsp:spPr>
        <a:xfrm>
          <a:off x="0" y="0"/>
          <a:ext cx="4352544" cy="4352544"/>
        </a:xfrm>
        <a:prstGeom prst="pie">
          <a:avLst>
            <a:gd name="adj1" fmla="val 5400000"/>
            <a:gd name="adj2" fmla="val 1620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195990-28AA-4577-B88C-644BD258A034}">
      <dsp:nvSpPr>
        <dsp:cNvPr id="0" name=""/>
        <dsp:cNvSpPr/>
      </dsp:nvSpPr>
      <dsp:spPr>
        <a:xfrm>
          <a:off x="2176272" y="0"/>
          <a:ext cx="5710428" cy="4352544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/>
            <a:t>Эвристический синтез</a:t>
          </a:r>
          <a:endParaRPr lang="en-US" sz="2000" kern="1200"/>
        </a:p>
      </dsp:txBody>
      <dsp:txXfrm>
        <a:off x="2176272" y="0"/>
        <a:ext cx="2855214" cy="1305766"/>
      </dsp:txXfrm>
    </dsp:sp>
    <dsp:sp modelId="{EEA9DD40-1825-4DF7-9B61-F29A2286C268}">
      <dsp:nvSpPr>
        <dsp:cNvPr id="0" name=""/>
        <dsp:cNvSpPr/>
      </dsp:nvSpPr>
      <dsp:spPr>
        <a:xfrm>
          <a:off x="761696" y="1305766"/>
          <a:ext cx="2829150" cy="2829150"/>
        </a:xfrm>
        <a:prstGeom prst="pie">
          <a:avLst>
            <a:gd name="adj1" fmla="val 5400000"/>
            <a:gd name="adj2" fmla="val 1620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81A32C-BE1C-4774-9586-EE7F24FE39B6}">
      <dsp:nvSpPr>
        <dsp:cNvPr id="0" name=""/>
        <dsp:cNvSpPr/>
      </dsp:nvSpPr>
      <dsp:spPr>
        <a:xfrm>
          <a:off x="2176272" y="1305766"/>
          <a:ext cx="5710428" cy="28291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 dirty="0"/>
            <a:t>методы ненаправленного (полуупорядоченного) синтеза, </a:t>
          </a:r>
          <a:endParaRPr lang="en-US" sz="2000" kern="1200" dirty="0"/>
        </a:p>
      </dsp:txBody>
      <dsp:txXfrm>
        <a:off x="2176272" y="1305766"/>
        <a:ext cx="2855214" cy="1305761"/>
      </dsp:txXfrm>
    </dsp:sp>
    <dsp:sp modelId="{0E2C5C0F-84F9-4762-9018-32DDB99831C7}">
      <dsp:nvSpPr>
        <dsp:cNvPr id="0" name=""/>
        <dsp:cNvSpPr/>
      </dsp:nvSpPr>
      <dsp:spPr>
        <a:xfrm>
          <a:off x="1523391" y="2611527"/>
          <a:ext cx="1305761" cy="1305761"/>
        </a:xfrm>
        <a:prstGeom prst="pie">
          <a:avLst>
            <a:gd name="adj1" fmla="val 5400000"/>
            <a:gd name="adj2" fmla="val 1620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6F0507-455B-4338-A620-1510AD9217AF}">
      <dsp:nvSpPr>
        <dsp:cNvPr id="0" name=""/>
        <dsp:cNvSpPr/>
      </dsp:nvSpPr>
      <dsp:spPr>
        <a:xfrm>
          <a:off x="2176272" y="2611527"/>
          <a:ext cx="5710428" cy="1305761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 dirty="0"/>
            <a:t>методы направленного (упорядоченного) синтеза,</a:t>
          </a:r>
          <a:endParaRPr lang="en-US" sz="2000" kern="1200" dirty="0"/>
        </a:p>
      </dsp:txBody>
      <dsp:txXfrm>
        <a:off x="2176272" y="2611527"/>
        <a:ext cx="2855214" cy="1305761"/>
      </dsp:txXfrm>
    </dsp:sp>
    <dsp:sp modelId="{E1FF304B-E304-42BD-B89C-51126943A301}">
      <dsp:nvSpPr>
        <dsp:cNvPr id="0" name=""/>
        <dsp:cNvSpPr/>
      </dsp:nvSpPr>
      <dsp:spPr>
        <a:xfrm>
          <a:off x="5031486" y="0"/>
          <a:ext cx="2855214" cy="1305766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300" kern="1200"/>
            <a:t>способ решения какой-либо поставленной задачи, включающий совокупность приемов мыслительной деятельности, а также операций по сбору, анализу, обработке и хранению информации.</a:t>
          </a:r>
          <a:endParaRPr lang="en-US" sz="1300" kern="1200"/>
        </a:p>
      </dsp:txBody>
      <dsp:txXfrm>
        <a:off x="5031486" y="0"/>
        <a:ext cx="2855214" cy="1305766"/>
      </dsp:txXfrm>
    </dsp:sp>
    <dsp:sp modelId="{EA70759F-A540-4F9C-89CC-883A3C8D79CB}">
      <dsp:nvSpPr>
        <dsp:cNvPr id="0" name=""/>
        <dsp:cNvSpPr/>
      </dsp:nvSpPr>
      <dsp:spPr>
        <a:xfrm>
          <a:off x="5031486" y="1305766"/>
          <a:ext cx="2855214" cy="1305761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300" kern="1200" dirty="0"/>
            <a:t>опирается только на простейшие приемы ассоциативного мышления</a:t>
          </a:r>
          <a:endParaRPr lang="en-US" sz="1300" kern="1200" dirty="0"/>
        </a:p>
      </dsp:txBody>
      <dsp:txXfrm>
        <a:off x="5031486" y="1305766"/>
        <a:ext cx="2855214" cy="1305761"/>
      </dsp:txXfrm>
    </dsp:sp>
    <dsp:sp modelId="{84BB8280-3CAB-40BC-A131-0D66E492E6C5}">
      <dsp:nvSpPr>
        <dsp:cNvPr id="0" name=""/>
        <dsp:cNvSpPr/>
      </dsp:nvSpPr>
      <dsp:spPr>
        <a:xfrm>
          <a:off x="5031486" y="2611527"/>
          <a:ext cx="2855214" cy="1305761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300" kern="1200" dirty="0"/>
            <a:t>для них характерны комплексный подход, системный анализ проблемы и алгоритмизация творческого процесса.</a:t>
          </a:r>
          <a:endParaRPr lang="en-US" sz="1300" kern="1200" dirty="0"/>
        </a:p>
      </dsp:txBody>
      <dsp:txXfrm>
        <a:off x="5031486" y="2611527"/>
        <a:ext cx="2855214" cy="130576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E49738-01EF-423C-B10D-797186408A4D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63784E-C6DD-4AB4-A771-53BDEEC4728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ECD2BCC-8F02-4040-AF6A-0110A9CCA468}" type="slidenum">
              <a:rPr lang="ru-RU" smtClean="0"/>
              <a:pPr/>
              <a:t>2</a:t>
            </a:fld>
            <a:endParaRPr lang="ru-RU"/>
          </a:p>
        </p:txBody>
      </p:sp>
      <p:sp>
        <p:nvSpPr>
          <p:cNvPr id="1218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D45EE4-C4F0-4F72-B1C6-39F596D13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C459BAD-4279-4A9D-B0C5-662C5F5ED2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1696472" y="-729002"/>
            <a:ext cx="5649003" cy="7988753"/>
          </a:xfrm>
          <a:custGeom>
            <a:avLst/>
            <a:gdLst>
              <a:gd name="connsiteX0" fmla="*/ 0 w 5649003"/>
              <a:gd name="connsiteY0" fmla="*/ 3994377 h 7988753"/>
              <a:gd name="connsiteX1" fmla="*/ 2824502 w 5649003"/>
              <a:gd name="connsiteY1" fmla="*/ 0 h 7988753"/>
              <a:gd name="connsiteX2" fmla="*/ 5649004 w 5649003"/>
              <a:gd name="connsiteY2" fmla="*/ 3994377 h 7988753"/>
              <a:gd name="connsiteX3" fmla="*/ 2824502 w 5649003"/>
              <a:gd name="connsiteY3" fmla="*/ 7988754 h 7988753"/>
              <a:gd name="connsiteX4" fmla="*/ 0 w 5649003"/>
              <a:gd name="connsiteY4" fmla="*/ 3994377 h 79887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49003" h="7988753" fill="none" extrusionOk="0">
                <a:moveTo>
                  <a:pt x="0" y="3994377"/>
                </a:moveTo>
                <a:cubicBezTo>
                  <a:pt x="186946" y="1724370"/>
                  <a:pt x="1438121" y="-52385"/>
                  <a:pt x="2824502" y="0"/>
                </a:cubicBezTo>
                <a:cubicBezTo>
                  <a:pt x="4573533" y="-25557"/>
                  <a:pt x="5524760" y="1760129"/>
                  <a:pt x="5649004" y="3994377"/>
                </a:cubicBezTo>
                <a:cubicBezTo>
                  <a:pt x="5518761" y="6222535"/>
                  <a:pt x="4285196" y="8231096"/>
                  <a:pt x="2824502" y="7988754"/>
                </a:cubicBezTo>
                <a:cubicBezTo>
                  <a:pt x="1332602" y="8079924"/>
                  <a:pt x="181951" y="6393158"/>
                  <a:pt x="0" y="3994377"/>
                </a:cubicBezTo>
                <a:close/>
              </a:path>
              <a:path w="5649003" h="7988753" stroke="0" extrusionOk="0">
                <a:moveTo>
                  <a:pt x="0" y="3994377"/>
                </a:moveTo>
                <a:cubicBezTo>
                  <a:pt x="-54350" y="1735993"/>
                  <a:pt x="1351726" y="167869"/>
                  <a:pt x="2824502" y="0"/>
                </a:cubicBezTo>
                <a:cubicBezTo>
                  <a:pt x="4343116" y="-29476"/>
                  <a:pt x="5695592" y="2113332"/>
                  <a:pt x="5649004" y="3994377"/>
                </a:cubicBezTo>
                <a:cubicBezTo>
                  <a:pt x="5518596" y="6213441"/>
                  <a:pt x="4081190" y="7959286"/>
                  <a:pt x="2824502" y="7988754"/>
                </a:cubicBezTo>
                <a:cubicBezTo>
                  <a:pt x="1192166" y="7815502"/>
                  <a:pt x="-92001" y="6198372"/>
                  <a:pt x="0" y="3994377"/>
                </a:cubicBezTo>
                <a:close/>
              </a:path>
            </a:pathLst>
          </a:custGeom>
          <a:solidFill>
            <a:schemeClr val="accent2"/>
          </a:solidFill>
          <a:ln w="57150">
            <a:solidFill>
              <a:schemeClr val="accent2"/>
            </a:solidFill>
            <a:extLst>
              <a:ext uri="{C807C97D-BFC1-408E-A445-0C87EB9F89A2}">
                <ask:lineSketchStyleProps xmlns:ask="http://schemas.microsoft.com/office/drawing/2018/sketchyshapes" sd="63743190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49908" y="1911096"/>
            <a:ext cx="6041898" cy="2076651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ru-RU" sz="4800">
                <a:solidFill>
                  <a:srgbClr val="FFFFFF"/>
                </a:solidFill>
              </a:rPr>
              <a:t>Неформальные методы принятия решений</a:t>
            </a:r>
            <a:endParaRPr lang="en-US" sz="4800">
              <a:solidFill>
                <a:srgbClr val="FFFFFF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20874" y="4353507"/>
            <a:ext cx="4299966" cy="932688"/>
          </a:xfrm>
        </p:spPr>
        <p:txBody>
          <a:bodyPr>
            <a:normAutofit/>
          </a:bodyPr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0953BC39-9D68-40BE-BF3C-5C4EB782AF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80654" y="4173498"/>
            <a:ext cx="3182692" cy="18288"/>
          </a:xfrm>
          <a:custGeom>
            <a:avLst/>
            <a:gdLst>
              <a:gd name="connsiteX0" fmla="*/ 0 w 3182692"/>
              <a:gd name="connsiteY0" fmla="*/ 0 h 18288"/>
              <a:gd name="connsiteX1" fmla="*/ 604711 w 3182692"/>
              <a:gd name="connsiteY1" fmla="*/ 0 h 18288"/>
              <a:gd name="connsiteX2" fmla="*/ 1241250 w 3182692"/>
              <a:gd name="connsiteY2" fmla="*/ 0 h 18288"/>
              <a:gd name="connsiteX3" fmla="*/ 1909615 w 3182692"/>
              <a:gd name="connsiteY3" fmla="*/ 0 h 18288"/>
              <a:gd name="connsiteX4" fmla="*/ 2577981 w 3182692"/>
              <a:gd name="connsiteY4" fmla="*/ 0 h 18288"/>
              <a:gd name="connsiteX5" fmla="*/ 3182692 w 3182692"/>
              <a:gd name="connsiteY5" fmla="*/ 0 h 18288"/>
              <a:gd name="connsiteX6" fmla="*/ 3182692 w 3182692"/>
              <a:gd name="connsiteY6" fmla="*/ 18288 h 18288"/>
              <a:gd name="connsiteX7" fmla="*/ 2482500 w 3182692"/>
              <a:gd name="connsiteY7" fmla="*/ 18288 h 18288"/>
              <a:gd name="connsiteX8" fmla="*/ 1782308 w 3182692"/>
              <a:gd name="connsiteY8" fmla="*/ 18288 h 18288"/>
              <a:gd name="connsiteX9" fmla="*/ 1145769 w 3182692"/>
              <a:gd name="connsiteY9" fmla="*/ 18288 h 18288"/>
              <a:gd name="connsiteX10" fmla="*/ 0 w 3182692"/>
              <a:gd name="connsiteY10" fmla="*/ 18288 h 18288"/>
              <a:gd name="connsiteX11" fmla="*/ 0 w 3182692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182692" h="18288" fill="none" extrusionOk="0">
                <a:moveTo>
                  <a:pt x="0" y="0"/>
                </a:moveTo>
                <a:cubicBezTo>
                  <a:pt x="126686" y="-21366"/>
                  <a:pt x="467788" y="9025"/>
                  <a:pt x="604711" y="0"/>
                </a:cubicBezTo>
                <a:cubicBezTo>
                  <a:pt x="741634" y="-9025"/>
                  <a:pt x="1061620" y="6814"/>
                  <a:pt x="1241250" y="0"/>
                </a:cubicBezTo>
                <a:cubicBezTo>
                  <a:pt x="1420880" y="-6814"/>
                  <a:pt x="1713773" y="13383"/>
                  <a:pt x="1909615" y="0"/>
                </a:cubicBezTo>
                <a:cubicBezTo>
                  <a:pt x="2105457" y="-13383"/>
                  <a:pt x="2257256" y="13567"/>
                  <a:pt x="2577981" y="0"/>
                </a:cubicBezTo>
                <a:cubicBezTo>
                  <a:pt x="2898706" y="-13567"/>
                  <a:pt x="3026063" y="6328"/>
                  <a:pt x="3182692" y="0"/>
                </a:cubicBezTo>
                <a:cubicBezTo>
                  <a:pt x="3181983" y="8157"/>
                  <a:pt x="3182279" y="12125"/>
                  <a:pt x="3182692" y="18288"/>
                </a:cubicBezTo>
                <a:cubicBezTo>
                  <a:pt x="2998421" y="21742"/>
                  <a:pt x="2675038" y="19014"/>
                  <a:pt x="2482500" y="18288"/>
                </a:cubicBezTo>
                <a:cubicBezTo>
                  <a:pt x="2289962" y="17562"/>
                  <a:pt x="1930644" y="6834"/>
                  <a:pt x="1782308" y="18288"/>
                </a:cubicBezTo>
                <a:cubicBezTo>
                  <a:pt x="1633972" y="29742"/>
                  <a:pt x="1287388" y="-1992"/>
                  <a:pt x="1145769" y="18288"/>
                </a:cubicBezTo>
                <a:cubicBezTo>
                  <a:pt x="1004150" y="38568"/>
                  <a:pt x="256377" y="-37438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182692" h="18288" stroke="0" extrusionOk="0">
                <a:moveTo>
                  <a:pt x="0" y="0"/>
                </a:moveTo>
                <a:cubicBezTo>
                  <a:pt x="283446" y="18201"/>
                  <a:pt x="432812" y="7290"/>
                  <a:pt x="604711" y="0"/>
                </a:cubicBezTo>
                <a:cubicBezTo>
                  <a:pt x="776610" y="-7290"/>
                  <a:pt x="982253" y="15478"/>
                  <a:pt x="1145769" y="0"/>
                </a:cubicBezTo>
                <a:cubicBezTo>
                  <a:pt x="1309285" y="-15478"/>
                  <a:pt x="1514247" y="-25520"/>
                  <a:pt x="1845961" y="0"/>
                </a:cubicBezTo>
                <a:cubicBezTo>
                  <a:pt x="2177675" y="25520"/>
                  <a:pt x="2297588" y="16646"/>
                  <a:pt x="2450673" y="0"/>
                </a:cubicBezTo>
                <a:cubicBezTo>
                  <a:pt x="2603758" y="-16646"/>
                  <a:pt x="3023048" y="-21196"/>
                  <a:pt x="3182692" y="0"/>
                </a:cubicBezTo>
                <a:cubicBezTo>
                  <a:pt x="3182428" y="4493"/>
                  <a:pt x="3183076" y="9472"/>
                  <a:pt x="3182692" y="18288"/>
                </a:cubicBezTo>
                <a:cubicBezTo>
                  <a:pt x="3039109" y="-12701"/>
                  <a:pt x="2823860" y="13848"/>
                  <a:pt x="2546154" y="18288"/>
                </a:cubicBezTo>
                <a:cubicBezTo>
                  <a:pt x="2268448" y="22728"/>
                  <a:pt x="2098674" y="5291"/>
                  <a:pt x="1845961" y="18288"/>
                </a:cubicBezTo>
                <a:cubicBezTo>
                  <a:pt x="1593248" y="31285"/>
                  <a:pt x="1456743" y="27560"/>
                  <a:pt x="1304904" y="18288"/>
                </a:cubicBezTo>
                <a:cubicBezTo>
                  <a:pt x="1153065" y="9016"/>
                  <a:pt x="947204" y="11126"/>
                  <a:pt x="668365" y="18288"/>
                </a:cubicBezTo>
                <a:cubicBezTo>
                  <a:pt x="389526" y="25450"/>
                  <a:pt x="288244" y="-4628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sz="2000">
                <a:solidFill>
                  <a:schemeClr val="bg1"/>
                </a:solidFill>
              </a:rPr>
              <a:t>Методы принятия решений</a:t>
            </a:r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381000"/>
            <a:ext cx="8229600" cy="5745163"/>
          </a:xfrm>
        </p:spPr>
        <p:txBody>
          <a:bodyPr/>
          <a:lstStyle/>
          <a:p>
            <a:pPr eaLnBrk="1" hangingPunct="1"/>
            <a:endParaRPr lang="en-US" sz="2000" dirty="0"/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533400" y="457200"/>
            <a:ext cx="7924800" cy="5410200"/>
            <a:chOff x="1080" y="7254"/>
            <a:chExt cx="9720" cy="5040"/>
          </a:xfrm>
        </p:grpSpPr>
        <p:sp>
          <p:nvSpPr>
            <p:cNvPr id="69637" name="Text Box 5"/>
            <p:cNvSpPr txBox="1">
              <a:spLocks noChangeArrowheads="1"/>
            </p:cNvSpPr>
            <p:nvPr/>
          </p:nvSpPr>
          <p:spPr bwMode="auto">
            <a:xfrm>
              <a:off x="2700" y="7254"/>
              <a:ext cx="5760" cy="54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ts val="1200"/>
                </a:spcBef>
                <a:spcAft>
                  <a:spcPts val="300"/>
                </a:spcAft>
              </a:pPr>
              <a:r>
                <a:rPr lang="ru-RU" sz="2000" b="1" dirty="0">
                  <a:latin typeface="Times New Roman" pitchFamily="18" charset="0"/>
                </a:rPr>
                <a:t>Методы принятия решений</a:t>
              </a:r>
              <a:endParaRPr lang="ru-RU" sz="2000" b="1" dirty="0"/>
            </a:p>
          </p:txBody>
        </p:sp>
        <p:sp>
          <p:nvSpPr>
            <p:cNvPr id="69638" name="Text Box 6"/>
            <p:cNvSpPr txBox="1">
              <a:spLocks noChangeArrowheads="1"/>
            </p:cNvSpPr>
            <p:nvPr/>
          </p:nvSpPr>
          <p:spPr bwMode="auto">
            <a:xfrm>
              <a:off x="1080" y="8334"/>
              <a:ext cx="2880" cy="90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lvl="1" algn="just"/>
              <a:r>
                <a:rPr lang="ru-RU" b="1" dirty="0"/>
                <a:t>Неформальные (Эвристические)</a:t>
              </a:r>
            </a:p>
            <a:p>
              <a:pPr lvl="1" algn="just"/>
              <a:endParaRPr lang="ru-RU" sz="2000" b="0" dirty="0"/>
            </a:p>
            <a:p>
              <a:pPr lvl="1" algn="just"/>
              <a:endParaRPr lang="ru-RU" sz="2000" b="0" dirty="0"/>
            </a:p>
            <a:p>
              <a:pPr lvl="1" algn="just"/>
              <a:endParaRPr lang="ru-RU" sz="2000" b="0" dirty="0"/>
            </a:p>
            <a:p>
              <a:pPr lvl="1" algn="just"/>
              <a:endParaRPr lang="ru-RU" sz="2000" b="0" dirty="0"/>
            </a:p>
            <a:p>
              <a:pPr lvl="1" algn="just"/>
              <a:endParaRPr lang="ru-RU" sz="2000" b="0" dirty="0"/>
            </a:p>
            <a:p>
              <a:pPr lvl="1" algn="just"/>
              <a:endParaRPr lang="ru-RU" sz="2000" b="0" dirty="0"/>
            </a:p>
            <a:p>
              <a:pPr lvl="1" algn="just"/>
              <a:endParaRPr lang="ru-RU" sz="2000" b="0" dirty="0"/>
            </a:p>
            <a:p>
              <a:pPr lvl="1" algn="just"/>
              <a:endParaRPr lang="ru-RU" sz="2000" b="0" dirty="0"/>
            </a:p>
            <a:p>
              <a:pPr lvl="1" algn="just"/>
              <a:endParaRPr lang="ru-RU" sz="2000" b="0" dirty="0"/>
            </a:p>
            <a:p>
              <a:pPr lvl="1" algn="just"/>
              <a:endParaRPr lang="ru-RU" sz="2000" b="0" dirty="0"/>
            </a:p>
            <a:p>
              <a:pPr lvl="1" algn="just"/>
              <a:endParaRPr lang="ru-RU" sz="2000" b="0" dirty="0"/>
            </a:p>
            <a:p>
              <a:pPr lvl="1" algn="just"/>
              <a:endParaRPr lang="ru-RU" sz="2000" b="0" dirty="0"/>
            </a:p>
            <a:p>
              <a:pPr lvl="1" algn="just"/>
              <a:endParaRPr lang="ru-RU" sz="2000" b="0" dirty="0"/>
            </a:p>
            <a:p>
              <a:pPr lvl="1" algn="just"/>
              <a:endParaRPr lang="ru-RU" sz="2000" b="0" dirty="0"/>
            </a:p>
            <a:p>
              <a:endParaRPr lang="ru-RU" sz="2000" dirty="0"/>
            </a:p>
          </p:txBody>
        </p:sp>
        <p:sp>
          <p:nvSpPr>
            <p:cNvPr id="69639" name="Text Box 7"/>
            <p:cNvSpPr txBox="1">
              <a:spLocks noChangeArrowheads="1"/>
            </p:cNvSpPr>
            <p:nvPr/>
          </p:nvSpPr>
          <p:spPr bwMode="auto">
            <a:xfrm>
              <a:off x="4538" y="8390"/>
              <a:ext cx="2880" cy="85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lvl="1" algn="ctr"/>
              <a:r>
                <a:rPr lang="ru-RU" sz="2000" b="1" dirty="0"/>
                <a:t>Коллективные </a:t>
              </a:r>
            </a:p>
            <a:p>
              <a:pPr lvl="1" algn="just"/>
              <a:endParaRPr lang="ru-RU" sz="2000" b="0" dirty="0"/>
            </a:p>
            <a:p>
              <a:pPr lvl="1" algn="just"/>
              <a:endParaRPr lang="ru-RU" sz="2000" b="0" dirty="0"/>
            </a:p>
            <a:p>
              <a:pPr lvl="1" algn="just"/>
              <a:endParaRPr lang="ru-RU" sz="2000" b="0" dirty="0"/>
            </a:p>
            <a:p>
              <a:pPr lvl="1" algn="just"/>
              <a:endParaRPr lang="ru-RU" sz="2000" b="0" dirty="0"/>
            </a:p>
            <a:p>
              <a:pPr lvl="1" algn="just"/>
              <a:endParaRPr lang="ru-RU" sz="2000" b="0" dirty="0"/>
            </a:p>
            <a:p>
              <a:pPr lvl="1" algn="just"/>
              <a:endParaRPr lang="ru-RU" sz="2000" b="0" dirty="0"/>
            </a:p>
            <a:p>
              <a:pPr lvl="1" algn="just"/>
              <a:endParaRPr lang="ru-RU" sz="2000" b="0" dirty="0"/>
            </a:p>
            <a:p>
              <a:pPr lvl="1" algn="just"/>
              <a:endParaRPr lang="ru-RU" sz="2000" b="0" dirty="0"/>
            </a:p>
            <a:p>
              <a:pPr lvl="1" algn="just"/>
              <a:endParaRPr lang="ru-RU" sz="2000" b="0" dirty="0"/>
            </a:p>
            <a:p>
              <a:pPr lvl="1" algn="just"/>
              <a:endParaRPr lang="ru-RU" sz="2000" b="0" dirty="0"/>
            </a:p>
            <a:p>
              <a:pPr lvl="1" algn="just"/>
              <a:endParaRPr lang="ru-RU" sz="2000" b="0" dirty="0"/>
            </a:p>
            <a:p>
              <a:pPr lvl="1" algn="just"/>
              <a:endParaRPr lang="ru-RU" sz="2000" b="0" dirty="0"/>
            </a:p>
            <a:p>
              <a:pPr lvl="1" algn="just"/>
              <a:endParaRPr lang="ru-RU" sz="2000" b="0" dirty="0"/>
            </a:p>
            <a:p>
              <a:pPr lvl="1" algn="just"/>
              <a:endParaRPr lang="ru-RU" sz="2000" b="0" dirty="0"/>
            </a:p>
            <a:p>
              <a:endParaRPr lang="ru-RU" sz="2000" dirty="0"/>
            </a:p>
          </p:txBody>
        </p:sp>
        <p:sp>
          <p:nvSpPr>
            <p:cNvPr id="69640" name="Text Box 8"/>
            <p:cNvSpPr txBox="1">
              <a:spLocks noChangeArrowheads="1"/>
            </p:cNvSpPr>
            <p:nvPr/>
          </p:nvSpPr>
          <p:spPr bwMode="auto">
            <a:xfrm>
              <a:off x="7920" y="8319"/>
              <a:ext cx="2880" cy="85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lvl="1" algn="just"/>
              <a:r>
                <a:rPr lang="ru-RU" sz="2000" b="1" dirty="0"/>
                <a:t>Количествен</a:t>
              </a:r>
            </a:p>
            <a:p>
              <a:pPr lvl="1" algn="just"/>
              <a:r>
                <a:rPr lang="ru-RU" sz="2000" b="1" dirty="0"/>
                <a:t>ные</a:t>
              </a:r>
            </a:p>
            <a:p>
              <a:pPr lvl="1" algn="ctr"/>
              <a:endParaRPr lang="ru-RU" sz="2000" dirty="0"/>
            </a:p>
            <a:p>
              <a:pPr lvl="1" algn="just"/>
              <a:endParaRPr lang="ru-RU" sz="2000" b="0" dirty="0"/>
            </a:p>
            <a:p>
              <a:pPr lvl="1" algn="just"/>
              <a:endParaRPr lang="ru-RU" sz="2000" b="0" dirty="0"/>
            </a:p>
            <a:p>
              <a:pPr lvl="1" algn="just"/>
              <a:endParaRPr lang="ru-RU" sz="2000" b="0" dirty="0"/>
            </a:p>
            <a:p>
              <a:pPr lvl="1" algn="just"/>
              <a:endParaRPr lang="ru-RU" sz="2000" b="0" dirty="0"/>
            </a:p>
            <a:p>
              <a:pPr lvl="1" algn="just"/>
              <a:endParaRPr lang="ru-RU" sz="2000" b="0" dirty="0"/>
            </a:p>
            <a:p>
              <a:pPr lvl="1" algn="just"/>
              <a:endParaRPr lang="ru-RU" sz="2000" b="0" dirty="0"/>
            </a:p>
            <a:p>
              <a:pPr lvl="1" algn="just"/>
              <a:endParaRPr lang="ru-RU" sz="2000" b="0" dirty="0"/>
            </a:p>
            <a:p>
              <a:pPr lvl="1" algn="just"/>
              <a:endParaRPr lang="ru-RU" sz="2000" b="0" dirty="0"/>
            </a:p>
            <a:p>
              <a:pPr lvl="1" algn="just"/>
              <a:endParaRPr lang="ru-RU" sz="2000" b="0" dirty="0"/>
            </a:p>
            <a:p>
              <a:pPr lvl="1" algn="just"/>
              <a:endParaRPr lang="ru-RU" sz="2000" b="0" dirty="0"/>
            </a:p>
            <a:p>
              <a:pPr lvl="1" algn="just"/>
              <a:endParaRPr lang="ru-RU" sz="2000" b="0" dirty="0"/>
            </a:p>
            <a:p>
              <a:pPr lvl="1" algn="just"/>
              <a:endParaRPr lang="ru-RU" sz="2000" b="0" dirty="0"/>
            </a:p>
            <a:p>
              <a:pPr lvl="1" algn="just"/>
              <a:endParaRPr lang="ru-RU" sz="2000" b="0" dirty="0"/>
            </a:p>
            <a:p>
              <a:endParaRPr lang="ru-RU" sz="2000" dirty="0"/>
            </a:p>
          </p:txBody>
        </p:sp>
        <p:sp>
          <p:nvSpPr>
            <p:cNvPr id="69641" name="Line 9"/>
            <p:cNvSpPr>
              <a:spLocks noChangeShapeType="1"/>
            </p:cNvSpPr>
            <p:nvPr/>
          </p:nvSpPr>
          <p:spPr bwMode="auto">
            <a:xfrm>
              <a:off x="3060" y="8154"/>
              <a:ext cx="54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69642" name="Line 10"/>
            <p:cNvSpPr>
              <a:spLocks noChangeShapeType="1"/>
            </p:cNvSpPr>
            <p:nvPr/>
          </p:nvSpPr>
          <p:spPr bwMode="auto">
            <a:xfrm>
              <a:off x="5760" y="7794"/>
              <a:ext cx="0" cy="5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69643" name="Line 11"/>
            <p:cNvSpPr>
              <a:spLocks noChangeShapeType="1"/>
            </p:cNvSpPr>
            <p:nvPr/>
          </p:nvSpPr>
          <p:spPr bwMode="auto">
            <a:xfrm>
              <a:off x="3060" y="8154"/>
              <a:ext cx="0" cy="1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69644" name="Line 12"/>
            <p:cNvSpPr>
              <a:spLocks noChangeShapeType="1"/>
            </p:cNvSpPr>
            <p:nvPr/>
          </p:nvSpPr>
          <p:spPr bwMode="auto">
            <a:xfrm>
              <a:off x="8460" y="8154"/>
              <a:ext cx="0" cy="1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69645" name="Text Box 13"/>
            <p:cNvSpPr txBox="1">
              <a:spLocks noChangeArrowheads="1"/>
            </p:cNvSpPr>
            <p:nvPr/>
          </p:nvSpPr>
          <p:spPr bwMode="auto">
            <a:xfrm>
              <a:off x="1080" y="9414"/>
              <a:ext cx="2880" cy="2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spcBef>
                  <a:spcPts val="1200"/>
                </a:spcBef>
                <a:spcAft>
                  <a:spcPts val="300"/>
                </a:spcAft>
              </a:pPr>
              <a:r>
                <a:rPr lang="ru-RU" dirty="0"/>
                <a:t>Логические</a:t>
              </a:r>
            </a:p>
            <a:p>
              <a:r>
                <a:rPr lang="ru-RU" dirty="0"/>
                <a:t>(сравнение, наблюдение)</a:t>
              </a:r>
            </a:p>
            <a:p>
              <a:r>
                <a:rPr lang="ru-RU" dirty="0"/>
                <a:t>использование опыта и прецедентов</a:t>
              </a:r>
            </a:p>
            <a:p>
              <a:r>
                <a:rPr lang="ru-RU" dirty="0"/>
                <a:t>использование интуиции, метод Бенджамина Франклина</a:t>
              </a:r>
            </a:p>
          </p:txBody>
        </p:sp>
        <p:sp>
          <p:nvSpPr>
            <p:cNvPr id="69646" name="Text Box 14"/>
            <p:cNvSpPr txBox="1">
              <a:spLocks noChangeArrowheads="1"/>
            </p:cNvSpPr>
            <p:nvPr/>
          </p:nvSpPr>
          <p:spPr bwMode="auto">
            <a:xfrm>
              <a:off x="4500" y="9414"/>
              <a:ext cx="2880" cy="2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r>
                <a:rPr lang="ru-RU" sz="2000" dirty="0"/>
                <a:t>«мозговой штурм»</a:t>
              </a:r>
            </a:p>
            <a:p>
              <a:r>
                <a:rPr lang="ru-RU" sz="2000" dirty="0"/>
                <a:t>экспертные оценки</a:t>
              </a:r>
            </a:p>
            <a:p>
              <a:r>
                <a:rPr lang="ru-RU" sz="2000" dirty="0"/>
                <a:t>метод </a:t>
              </a:r>
              <a:r>
                <a:rPr lang="ru-RU" sz="2000" dirty="0" err="1"/>
                <a:t>Делфи</a:t>
              </a:r>
              <a:endParaRPr lang="ru-RU" sz="2000" dirty="0"/>
            </a:p>
            <a:p>
              <a:r>
                <a:rPr lang="ru-RU" sz="2000" dirty="0"/>
                <a:t>японская система «</a:t>
              </a:r>
              <a:r>
                <a:rPr lang="ru-RU" sz="2000" dirty="0" err="1"/>
                <a:t>Рингисё</a:t>
              </a:r>
              <a:r>
                <a:rPr lang="ru-RU" sz="2000" dirty="0"/>
                <a:t>», метод шести шляп, </a:t>
              </a:r>
            </a:p>
            <a:p>
              <a:endParaRPr lang="ru-RU" sz="2000" dirty="0"/>
            </a:p>
            <a:p>
              <a:endParaRPr lang="ru-RU" sz="2000" dirty="0"/>
            </a:p>
          </p:txBody>
        </p:sp>
        <p:sp>
          <p:nvSpPr>
            <p:cNvPr id="69647" name="Text Box 15"/>
            <p:cNvSpPr txBox="1">
              <a:spLocks noChangeArrowheads="1"/>
            </p:cNvSpPr>
            <p:nvPr/>
          </p:nvSpPr>
          <p:spPr bwMode="auto">
            <a:xfrm>
              <a:off x="7920" y="9414"/>
              <a:ext cx="2880" cy="288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r>
                <a:rPr lang="ru-RU" sz="2000"/>
                <a:t>Линейное моделирование</a:t>
              </a:r>
            </a:p>
            <a:p>
              <a:r>
                <a:rPr lang="ru-RU" sz="2000"/>
                <a:t>Динамическое программирование</a:t>
              </a:r>
            </a:p>
            <a:p>
              <a:r>
                <a:rPr lang="ru-RU" sz="2000"/>
                <a:t>Вероятностные и статистические модели</a:t>
              </a:r>
            </a:p>
            <a:p>
              <a:r>
                <a:rPr lang="ru-RU" sz="2000"/>
                <a:t>Теория игр</a:t>
              </a:r>
            </a:p>
            <a:p>
              <a:r>
                <a:rPr lang="ru-RU" sz="2000"/>
                <a:t>Имитационные модели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57188"/>
            <a:ext cx="7886700" cy="113349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ru-RU" sz="3500"/>
              <a:t>Неформальные (эвристический синтез) методы принятия решения</a:t>
            </a:r>
            <a:endParaRPr lang="en-US" sz="350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91629563"/>
              </p:ext>
            </p:extLst>
          </p:nvPr>
        </p:nvGraphicFramePr>
        <p:xfrm>
          <a:off x="628650" y="1828800"/>
          <a:ext cx="78867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133</Words>
  <Application>Microsoft Office PowerPoint</Application>
  <PresentationFormat>Экран (4:3)</PresentationFormat>
  <Paragraphs>67</Paragraphs>
  <Slides>3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7" baseType="lpstr">
      <vt:lpstr>Arial</vt:lpstr>
      <vt:lpstr>Calibri</vt:lpstr>
      <vt:lpstr>Times New Roman</vt:lpstr>
      <vt:lpstr>Office Theme</vt:lpstr>
      <vt:lpstr>Неформальные методы принятия решений</vt:lpstr>
      <vt:lpstr>Методы принятия решений</vt:lpstr>
      <vt:lpstr>Неформальные (эвристический синтез) методы принятия решения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Методы принятия решений</dc:title>
  <dc:creator>Marina</dc:creator>
  <cp:lastModifiedBy>максим попов</cp:lastModifiedBy>
  <cp:revision>12</cp:revision>
  <dcterms:created xsi:type="dcterms:W3CDTF">2006-08-16T00:00:00Z</dcterms:created>
  <dcterms:modified xsi:type="dcterms:W3CDTF">2026-02-02T09:15:54Z</dcterms:modified>
</cp:coreProperties>
</file>